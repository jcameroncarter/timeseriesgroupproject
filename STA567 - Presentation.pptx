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Caveat" panose="020B0604020202020204" charset="0"/>
      <p:regular r:id="rId18"/>
      <p:bold r:id="rId19"/>
    </p:embeddedFont>
    <p:embeddedFont>
      <p:font typeface="Century Schoolbook" panose="02040604050505020304" pitchFamily="18" charset="0"/>
      <p:regular r:id="rId20"/>
      <p:bold r:id="rId21"/>
      <p:italic r:id="rId22"/>
      <p:boldItalic r:id="rId23"/>
    </p:embeddedFont>
    <p:embeddedFont>
      <p:font typeface="Lobster" panose="020F0502020204030204" pitchFamily="2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EB5B27-A8BF-4A50-994B-4872845D6DAE}">
  <a:tblStyle styleId="{CAEB5B27-A8BF-4A50-994B-4872845D6DA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c8c5f7a8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c8c5f7a8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c8c5f7a88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c8c5f7a88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c8c5f7a8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c8c5f7a8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c8c5f7a8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c8c5f7a8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c8c5f7a8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c8c5f7a8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c8c5f7a8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c8c5f7a88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c8c5f7a88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c8c5f7a88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c8c5f7a88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c8c5f7a88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c8c5f7a88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c8c5f7a88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cf8c3c0f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cf8c3c0f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c8c5f7a88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c8c5f7a88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c8c5f7a88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c8c5f7a88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Maria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151397b1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151397b1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c8c5f7a88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c8c5f7a88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Maria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943875" y="95750"/>
            <a:ext cx="6812400" cy="1436400"/>
          </a:xfrm>
          <a:prstGeom prst="horizontalScroll">
            <a:avLst>
              <a:gd name="adj" fmla="val 12500"/>
            </a:avLst>
          </a:prstGeom>
          <a:solidFill>
            <a:srgbClr val="D9EAD3"/>
          </a:solidFill>
          <a:ln w="2857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b="1">
                <a:solidFill>
                  <a:srgbClr val="434343"/>
                </a:solidFill>
                <a:latin typeface="Lobster"/>
                <a:ea typeface="Lobster"/>
                <a:cs typeface="Lobster"/>
                <a:sym typeface="Lobster"/>
              </a:rPr>
              <a:t>Time Series Forecasting - 4 Bedroom Houses</a:t>
            </a:r>
            <a:endParaRPr sz="2900" b="1">
              <a:solidFill>
                <a:srgbClr val="434343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4223850" y="4145000"/>
            <a:ext cx="4667700" cy="642900"/>
          </a:xfrm>
          <a:prstGeom prst="flowChartAlternateProcess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veat"/>
                <a:ea typeface="Caveat"/>
                <a:cs typeface="Caveat"/>
                <a:sym typeface="Caveat"/>
              </a:rPr>
              <a:t>Cameron Carter, Maria Dodson, &amp; Nazim Pacheco</a:t>
            </a:r>
            <a:endParaRPr sz="2000" b="1"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159975"/>
            <a:ext cx="3542000" cy="19835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8221375" y="444650"/>
            <a:ext cx="547200" cy="738600"/>
          </a:xfrm>
          <a:prstGeom prst="triangle">
            <a:avLst>
              <a:gd name="adj" fmla="val 50000"/>
            </a:avLst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152400" y="1750975"/>
            <a:ext cx="684000" cy="642900"/>
          </a:xfrm>
          <a:prstGeom prst="ellipse">
            <a:avLst/>
          </a:prstGeom>
          <a:solidFill>
            <a:srgbClr val="F1C23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7756275" y="3365175"/>
            <a:ext cx="684000" cy="738600"/>
          </a:xfrm>
          <a:prstGeom prst="diamond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154400" y="341975"/>
            <a:ext cx="547200" cy="642900"/>
          </a:xfrm>
          <a:prstGeom prst="heart">
            <a:avLst/>
          </a:prstGeom>
          <a:solidFill>
            <a:srgbClr val="99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8009350" y="1887775"/>
            <a:ext cx="971244" cy="1015686"/>
          </a:xfrm>
          <a:prstGeom prst="lightningBolt">
            <a:avLst/>
          </a:prstGeom>
          <a:solidFill>
            <a:srgbClr val="3C78D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Introduction</a:t>
            </a:r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948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77500"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>
                <a:solidFill>
                  <a:schemeClr val="dk1"/>
                </a:solidFill>
              </a:rPr>
              <a:t>Forecasting home prices is always an important task for homebuyers &amp; economists</a:t>
            </a: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en" sz="2300" dirty="0">
                <a:solidFill>
                  <a:schemeClr val="dk1"/>
                </a:solidFill>
              </a:rPr>
              <a:t>Helps understand economic stability and assist people in financial decision making </a:t>
            </a: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5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Data obtained from Kaggle, Housing Property Sales Time Series by MtAG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Contains sale price info on bedrooms and apartments, of many bedroom sizes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Our focus is on 4 bedroom home prices:</a:t>
            </a:r>
            <a:endParaRPr dirty="0">
              <a:solidFill>
                <a:schemeClr val="dk1"/>
              </a:solidFill>
            </a:endParaRPr>
          </a:p>
          <a:p>
            <a:pPr marL="457200" lvl="0" indent="-34178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dirty="0">
                <a:solidFill>
                  <a:schemeClr val="dk1"/>
                </a:solidFill>
              </a:rPr>
              <a:t>The data was sorted by chronological order</a:t>
            </a:r>
            <a:endParaRPr dirty="0">
              <a:solidFill>
                <a:schemeClr val="dk1"/>
              </a:solidFill>
            </a:endParaRPr>
          </a:p>
          <a:p>
            <a:pPr marL="457200" lvl="0" indent="-34178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dirty="0">
                <a:solidFill>
                  <a:schemeClr val="dk1"/>
                </a:solidFill>
              </a:rPr>
              <a:t>Cleaned and trimmed to be only 4 bedrooms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2577" y="3286175"/>
            <a:ext cx="1552575" cy="1409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B8AF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Details</a:t>
            </a:r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Home sale prices measured every fiscal quarter from 2007 to 2019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Measured every fiscal quarter on March 31st, June 30th, September 30th, and December 31st: Total 51 observations, the data point for Dec. 2019 was missing.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Min.    1st Qu.  Median    Mean      3rd Qu.    Max.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548,969  604,071  636,687  669,804  741,295  837,295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9900" y="2644100"/>
            <a:ext cx="1882400" cy="192477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AD3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Details - Graphs</a:t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26775"/>
            <a:ext cx="9144000" cy="401672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85200C"/>
          </a:solidFill>
          <a:ln w="2857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Our Time Series Plot for a 4 Bedroom House and the ACF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7475" y="1326925"/>
            <a:ext cx="6052451" cy="282256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8" name="Google Shape;88;p17"/>
          <p:cNvSpPr txBox="1"/>
          <p:nvPr/>
        </p:nvSpPr>
        <p:spPr>
          <a:xfrm>
            <a:off x="82075" y="1326925"/>
            <a:ext cx="2900100" cy="3734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0000"/>
                </a:solidFill>
              </a:rPr>
              <a:t>Non-constant Mean</a:t>
            </a:r>
            <a:endParaRPr sz="18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00"/>
                </a:solidFill>
              </a:rPr>
              <a:t>Unstable Variance</a:t>
            </a:r>
            <a:endParaRPr sz="1800" b="1">
              <a:solidFill>
                <a:srgbClr val="FFF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00FF"/>
                </a:solidFill>
              </a:rPr>
              <a:t>Non-Stationary Behavior</a:t>
            </a:r>
            <a:endParaRPr sz="1800" b="1">
              <a:solidFill>
                <a:srgbClr val="FF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FF00"/>
                </a:solidFill>
              </a:rPr>
              <a:t>Slowly Decaying ACF</a:t>
            </a:r>
            <a:endParaRPr sz="1800" b="1">
              <a:solidFill>
                <a:srgbClr val="00F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00F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9900"/>
                </a:solidFill>
              </a:rPr>
              <a:t>Upward Trend</a:t>
            </a:r>
            <a:endParaRPr sz="1800" b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00F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FF"/>
                </a:solidFill>
              </a:rPr>
              <a:t>Requires Differencing</a:t>
            </a:r>
            <a:endParaRPr sz="1800"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6775" y="2968450"/>
            <a:ext cx="3050700" cy="572700"/>
          </a:xfrm>
          <a:prstGeom prst="mathEqual">
            <a:avLst>
              <a:gd name="adj1" fmla="val 23520"/>
              <a:gd name="adj2" fmla="val 1176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4664550" y="4281700"/>
            <a:ext cx="2900100" cy="5727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351C75"/>
                </a:solidFill>
                <a:latin typeface="Caveat"/>
                <a:ea typeface="Caveat"/>
                <a:cs typeface="Caveat"/>
                <a:sym typeface="Caveat"/>
              </a:rPr>
              <a:t>There must be a D value!</a:t>
            </a:r>
            <a:endParaRPr sz="2500" b="1">
              <a:solidFill>
                <a:srgbClr val="351C75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145225" y="116725"/>
            <a:ext cx="5679900" cy="572700"/>
          </a:xfrm>
          <a:prstGeom prst="rect">
            <a:avLst/>
          </a:prstGeom>
          <a:solidFill>
            <a:srgbClr val="38761D"/>
          </a:solidFill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1st Differencing - ARIMA(p, 1, q)</a:t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275" y="879425"/>
            <a:ext cx="6477000" cy="3028950"/>
          </a:xfrm>
          <a:prstGeom prst="rect">
            <a:avLst/>
          </a:prstGeom>
          <a:noFill/>
          <a:ln w="38100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7" name="Google Shape;97;p18"/>
          <p:cNvSpPr/>
          <p:nvPr/>
        </p:nvSpPr>
        <p:spPr>
          <a:xfrm>
            <a:off x="150" y="811025"/>
            <a:ext cx="2516400" cy="42642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4E13"/>
                </a:solidFill>
              </a:rPr>
              <a:t>Trend Reduced</a:t>
            </a:r>
            <a:endParaRPr b="1">
              <a:solidFill>
                <a:srgbClr val="274E1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124D"/>
                </a:solidFill>
              </a:rPr>
              <a:t>Still Non-Stationary</a:t>
            </a:r>
            <a:endParaRPr b="1">
              <a:solidFill>
                <a:srgbClr val="20124D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400"/>
              <a:buChar char="●"/>
            </a:pPr>
            <a:r>
              <a:rPr lang="en" b="1">
                <a:solidFill>
                  <a:srgbClr val="20124D"/>
                </a:solidFill>
              </a:rPr>
              <a:t>Non-constant mean</a:t>
            </a:r>
            <a:endParaRPr b="1">
              <a:solidFill>
                <a:srgbClr val="20124D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400"/>
              <a:buChar char="●"/>
            </a:pPr>
            <a:r>
              <a:rPr lang="en" b="1">
                <a:solidFill>
                  <a:srgbClr val="20124D"/>
                </a:solidFill>
              </a:rPr>
              <a:t>Unstable Variance</a:t>
            </a:r>
            <a:endParaRPr b="1">
              <a:solidFill>
                <a:srgbClr val="20124D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41B47"/>
                </a:solidFill>
              </a:rPr>
              <a:t>Correlation Among Lags in ACF</a:t>
            </a:r>
            <a:endParaRPr b="1">
              <a:solidFill>
                <a:srgbClr val="741B47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1st differencing not enough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FF"/>
                </a:solidFill>
              </a:rPr>
              <a:t>Cannot Use ACF/PACF/EACF Unless stationary!</a:t>
            </a:r>
            <a:endParaRPr b="1">
              <a:solidFill>
                <a:srgbClr val="FF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</a:rPr>
              <a:t>We must perform a 2nd Differencing</a:t>
            </a:r>
            <a:endParaRPr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4404575" y="4117525"/>
            <a:ext cx="2777100" cy="498000"/>
          </a:xfrm>
          <a:prstGeom prst="rect">
            <a:avLst/>
          </a:prstGeom>
          <a:solidFill>
            <a:srgbClr val="660000"/>
          </a:solidFill>
          <a:ln w="381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</a:rPr>
              <a:t>Hence, d &gt; 1 (For NOW)</a:t>
            </a:r>
            <a:endParaRPr sz="1800" b="1">
              <a:solidFill>
                <a:schemeClr val="lt1"/>
              </a:solidFill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7879400" y="4117525"/>
            <a:ext cx="779700" cy="602100"/>
          </a:xfrm>
          <a:prstGeom prst="smileyFace">
            <a:avLst>
              <a:gd name="adj" fmla="val 4653"/>
            </a:avLst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6306275" y="172275"/>
            <a:ext cx="875400" cy="4980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8268600" y="172275"/>
            <a:ext cx="875400" cy="498000"/>
          </a:xfrm>
          <a:prstGeom prst="mathMultiply">
            <a:avLst>
              <a:gd name="adj1" fmla="val 23520"/>
            </a:avLst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/>
          <p:nvPr/>
        </p:nvSpPr>
        <p:spPr>
          <a:xfrm>
            <a:off x="2682263" y="4293650"/>
            <a:ext cx="875400" cy="498000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150" y="3009525"/>
            <a:ext cx="2516400" cy="684000"/>
          </a:xfrm>
          <a:prstGeom prst="frame">
            <a:avLst>
              <a:gd name="adj1" fmla="val 12500"/>
            </a:avLst>
          </a:prstGeom>
          <a:solidFill>
            <a:schemeClr val="accent1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title"/>
          </p:nvPr>
        </p:nvSpPr>
        <p:spPr>
          <a:xfrm>
            <a:off x="177900" y="362950"/>
            <a:ext cx="4394100" cy="572700"/>
          </a:xfrm>
          <a:prstGeom prst="rect">
            <a:avLst/>
          </a:prstGeom>
          <a:solidFill>
            <a:srgbClr val="741B47"/>
          </a:solidFill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D9D9D9"/>
                </a:solidFill>
              </a:rPr>
              <a:t>After 2nd Differencing - Finally Stationary</a:t>
            </a:r>
            <a:endParaRPr>
              <a:solidFill>
                <a:srgbClr val="D9D9D9"/>
              </a:solidFill>
            </a:endParaRPr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6650" y="1170775"/>
            <a:ext cx="6219825" cy="2914650"/>
          </a:xfrm>
          <a:prstGeom prst="rect">
            <a:avLst/>
          </a:prstGeom>
          <a:noFill/>
          <a:ln w="38100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0" name="Google Shape;110;p19"/>
          <p:cNvSpPr/>
          <p:nvPr/>
        </p:nvSpPr>
        <p:spPr>
          <a:xfrm>
            <a:off x="246225" y="1217475"/>
            <a:ext cx="2284500" cy="37209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Constant Mean - zero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</a:rPr>
              <a:t>Stable Variance</a:t>
            </a:r>
            <a:endParaRPr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9900FF"/>
                </a:solidFill>
              </a:rPr>
              <a:t>Finally Stationary</a:t>
            </a:r>
            <a:endParaRPr b="1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B45F06"/>
                </a:solidFill>
              </a:rPr>
              <a:t>One Bar above line in ACF</a:t>
            </a:r>
            <a:endParaRPr b="1">
              <a:solidFill>
                <a:srgbClr val="B45F0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34F5C"/>
                </a:solidFill>
              </a:rPr>
              <a:t>Trend Fully Removed</a:t>
            </a:r>
            <a:endParaRPr b="1">
              <a:solidFill>
                <a:srgbClr val="134F5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4E13"/>
                </a:solidFill>
              </a:rPr>
              <a:t>Can Now Use Tools</a:t>
            </a:r>
            <a:endParaRPr b="1">
              <a:solidFill>
                <a:srgbClr val="274E1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246225" y="2776950"/>
            <a:ext cx="2284500" cy="437700"/>
          </a:xfrm>
          <a:prstGeom prst="ellipse">
            <a:avLst/>
          </a:prstGeom>
          <a:solidFill>
            <a:srgbClr val="CC0000"/>
          </a:solidFill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9"/>
          <p:cNvSpPr txBox="1"/>
          <p:nvPr/>
        </p:nvSpPr>
        <p:spPr>
          <a:xfrm>
            <a:off x="3214700" y="4336400"/>
            <a:ext cx="5102400" cy="5727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D is equivalent to 2 → Now Look for p and q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5170850" y="314625"/>
            <a:ext cx="2982300" cy="6210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F1C23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9"/>
          <p:cNvSpPr/>
          <p:nvPr/>
        </p:nvSpPr>
        <p:spPr>
          <a:xfrm>
            <a:off x="8385500" y="4336400"/>
            <a:ext cx="547200" cy="5727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2599113" y="4336400"/>
            <a:ext cx="547200" cy="5727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D1DC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2697900" cy="5727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ACF/PACF/EACF</a:t>
            </a:r>
            <a:endParaRPr/>
          </a:p>
        </p:txBody>
      </p:sp>
      <p:pic>
        <p:nvPicPr>
          <p:cNvPr id="121" name="Google Shape;1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75" y="1132625"/>
            <a:ext cx="5659525" cy="2659400"/>
          </a:xfrm>
          <a:prstGeom prst="rect">
            <a:avLst/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2" name="Google Shape;122;p20"/>
          <p:cNvSpPr txBox="1"/>
          <p:nvPr/>
        </p:nvSpPr>
        <p:spPr>
          <a:xfrm>
            <a:off x="5923225" y="1057600"/>
            <a:ext cx="3023100" cy="26397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AR/MA</a:t>
            </a:r>
            <a:endParaRPr sz="11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0 1 2 3 4 5 6 7 8 9 10 11 12 13</a:t>
            </a:r>
            <a:endParaRPr sz="11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 x </a:t>
            </a:r>
            <a:r>
              <a:rPr lang="en" sz="1100" b="1">
                <a:solidFill>
                  <a:schemeClr val="dk1"/>
                </a:solidFill>
                <a:highlight>
                  <a:srgbClr val="00FF00"/>
                </a:highlight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lang="en" sz="11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o o o o o o o o o  o  o  o </a:t>
            </a:r>
            <a:endParaRPr sz="11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100" b="1">
                <a:solidFill>
                  <a:schemeClr val="dk1"/>
                </a:solidFill>
                <a:highlight>
                  <a:srgbClr val="FF0000"/>
                </a:highlight>
                <a:latin typeface="Courier New"/>
                <a:ea typeface="Courier New"/>
                <a:cs typeface="Courier New"/>
                <a:sym typeface="Courier New"/>
              </a:rPr>
              <a:t> o</a:t>
            </a:r>
            <a:r>
              <a:rPr lang="en" sz="11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o o o o o o o o o o  o  o  o </a:t>
            </a:r>
            <a:endParaRPr sz="11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 x o o o o o o o o o o  o  o  o </a:t>
            </a:r>
            <a:endParaRPr sz="11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 o o o o o o o o o o o  o  o  o </a:t>
            </a:r>
            <a:endParaRPr sz="11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 o x o o o o o o o o o  o  o  o </a:t>
            </a:r>
            <a:endParaRPr sz="11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 o o o o o o o o o o o  o  o  o </a:t>
            </a:r>
            <a:endParaRPr sz="11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 x x o o o o o o o o o  o  o  o </a:t>
            </a:r>
            <a:endParaRPr sz="11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7 x x o o o o o o o o o  o  o  o</a:t>
            </a:r>
            <a:r>
              <a:rPr lang="en" sz="1100" b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 sz="1100" b="1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177825" y="4035475"/>
            <a:ext cx="3474600" cy="1026000"/>
          </a:xfrm>
          <a:prstGeom prst="rect">
            <a:avLst/>
          </a:prstGeom>
          <a:solidFill>
            <a:srgbClr val="20124D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00"/>
                </a:solidFill>
              </a:rPr>
              <a:t>ACF: Tails off — PACF: Cuts off </a:t>
            </a:r>
            <a:endParaRPr sz="1800">
              <a:solidFill>
                <a:srgbClr val="FFFF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00"/>
                </a:solidFill>
              </a:rPr>
              <a:t>Suggests AR(1) Process</a:t>
            </a:r>
            <a:endParaRPr sz="1800">
              <a:solidFill>
                <a:srgbClr val="FFFF00"/>
              </a:solidFill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4910950" y="4222075"/>
            <a:ext cx="4090200" cy="7026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highlight>
                  <a:srgbClr val="D0E0E3"/>
                </a:highlight>
              </a:rPr>
              <a:t>EACF suggests both MA(1) &amp; AR(1)</a:t>
            </a:r>
            <a:endParaRPr sz="1800" b="1">
              <a:highlight>
                <a:srgbClr val="D0E0E3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C232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/>
        </p:nvSpPr>
        <p:spPr>
          <a:xfrm>
            <a:off x="150475" y="273575"/>
            <a:ext cx="8850600" cy="506100"/>
          </a:xfrm>
          <a:prstGeom prst="rect">
            <a:avLst/>
          </a:prstGeom>
          <a:solidFill>
            <a:srgbClr val="0B5394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2"/>
                </a:solidFill>
              </a:rPr>
              <a:t>Standardized Residuals -  Two Competing Models: ARIMA(0,2,1) &amp; ARIMA(1,2,0)</a:t>
            </a:r>
            <a:endParaRPr sz="1800" b="1">
              <a:solidFill>
                <a:schemeClr val="lt2"/>
              </a:solidFill>
            </a:endParaRPr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450" y="1021588"/>
            <a:ext cx="2635175" cy="263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7550" y="1029313"/>
            <a:ext cx="2635175" cy="261973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 txBox="1"/>
          <p:nvPr/>
        </p:nvSpPr>
        <p:spPr>
          <a:xfrm>
            <a:off x="232550" y="3898675"/>
            <a:ext cx="3269400" cy="1012200"/>
          </a:xfrm>
          <a:prstGeom prst="rect">
            <a:avLst/>
          </a:prstGeom>
          <a:gradFill>
            <a:gsLst>
              <a:gs pos="0">
                <a:srgbClr val="DBD4EB"/>
              </a:gs>
              <a:gs pos="100000">
                <a:srgbClr val="9080BB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No pattern, looks relatively stable, model captures data well.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4780438" y="3898675"/>
            <a:ext cx="3269400" cy="10122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No pattern, looks relatively stable, model captures data well.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3652450" y="1021600"/>
            <a:ext cx="1128000" cy="2910300"/>
          </a:xfrm>
          <a:prstGeom prst="diamond">
            <a:avLst/>
          </a:prstGeom>
          <a:gradFill>
            <a:gsLst>
              <a:gs pos="0">
                <a:srgbClr val="00D3E9"/>
              </a:gs>
              <a:gs pos="100000">
                <a:srgbClr val="04596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/>
        </p:nvSpPr>
        <p:spPr>
          <a:xfrm>
            <a:off x="311700" y="232550"/>
            <a:ext cx="6199800" cy="478800"/>
          </a:xfrm>
          <a:prstGeom prst="rect">
            <a:avLst/>
          </a:prstGeom>
          <a:gradFill>
            <a:gsLst>
              <a:gs pos="0">
                <a:srgbClr val="FFC882"/>
              </a:gs>
              <a:gs pos="100000">
                <a:srgbClr val="F58E09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Testing for Normality - (QQ-Plots &amp; Shapiro-Wilk Tests)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140" name="Google Shape;1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325" y="1354300"/>
            <a:ext cx="2848275" cy="28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/>
          <p:nvPr/>
        </p:nvSpPr>
        <p:spPr>
          <a:xfrm>
            <a:off x="4298400" y="916525"/>
            <a:ext cx="547200" cy="4104000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F4FF83"/>
              </a:gs>
              <a:gs pos="100000">
                <a:srgbClr val="E1F609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2"/>
          <p:cNvSpPr txBox="1"/>
          <p:nvPr/>
        </p:nvSpPr>
        <p:spPr>
          <a:xfrm>
            <a:off x="908225" y="793425"/>
            <a:ext cx="1600500" cy="4788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ARIMA(0,2,1)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143" name="Google Shape;143;p22"/>
          <p:cNvSpPr/>
          <p:nvPr/>
        </p:nvSpPr>
        <p:spPr>
          <a:xfrm>
            <a:off x="311700" y="4281925"/>
            <a:ext cx="3710100" cy="738600"/>
          </a:xfrm>
          <a:prstGeom prst="homePlate">
            <a:avLst>
              <a:gd name="adj" fmla="val 50000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Shapiro-wilk:</a:t>
            </a:r>
            <a:endParaRPr sz="1100" b="1" u="sng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	Reject H0 → Not norm</a:t>
            </a:r>
            <a:endParaRPr sz="1100" b="1" u="sng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P-value = 0.03863</a:t>
            </a:r>
            <a:endParaRPr/>
          </a:p>
        </p:txBody>
      </p:sp>
      <p:sp>
        <p:nvSpPr>
          <p:cNvPr id="144" name="Google Shape;144;p22"/>
          <p:cNvSpPr txBox="1"/>
          <p:nvPr/>
        </p:nvSpPr>
        <p:spPr>
          <a:xfrm>
            <a:off x="6025088" y="820713"/>
            <a:ext cx="1600500" cy="4242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ARIMA(1,2,0)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145" name="Google Shape;14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1203" y="1339838"/>
            <a:ext cx="2848275" cy="284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/>
          <p:nvPr/>
        </p:nvSpPr>
        <p:spPr>
          <a:xfrm>
            <a:off x="5401200" y="4283025"/>
            <a:ext cx="3476700" cy="738600"/>
          </a:xfrm>
          <a:prstGeom prst="homePlate">
            <a:avLst>
              <a:gd name="adj" fmla="val 50000"/>
            </a:avLst>
          </a:prstGeom>
          <a:gradFill>
            <a:gsLst>
              <a:gs pos="0">
                <a:srgbClr val="DBD4EB"/>
              </a:gs>
              <a:gs pos="100000">
                <a:srgbClr val="9080BB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Shapiro-Wilk</a:t>
            </a:r>
            <a:endParaRPr sz="1100" b="1" u="sng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	</a:t>
            </a:r>
            <a:r>
              <a:rPr lang="en" sz="1100" b="1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Reject H0 → Not norm</a:t>
            </a:r>
            <a:endParaRPr sz="1100" b="1" u="sng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P-value: 0.01805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lin ang="5400012" scaled="0"/>
        </a:gra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  <a:gradFill>
            <a:gsLst>
              <a:gs pos="0">
                <a:srgbClr val="DDDDDD"/>
              </a:gs>
              <a:gs pos="100000">
                <a:srgbClr val="919191"/>
              </a:gs>
            </a:gsLst>
            <a:lin ang="5400012" scaled="0"/>
          </a:gradFill>
          <a:ln w="7620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Residuals → Ljung-Box Test</a:t>
            </a:r>
            <a:endParaRPr/>
          </a:p>
        </p:txBody>
      </p:sp>
      <p:pic>
        <p:nvPicPr>
          <p:cNvPr id="152" name="Google Shape;15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84575"/>
            <a:ext cx="3363250" cy="336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 txBox="1"/>
          <p:nvPr/>
        </p:nvSpPr>
        <p:spPr>
          <a:xfrm>
            <a:off x="75125" y="1189050"/>
            <a:ext cx="1607400" cy="424200"/>
          </a:xfrm>
          <a:prstGeom prst="rect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ARIMA(0,2,1)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1820850" y="1114803"/>
            <a:ext cx="2558100" cy="572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P-value &gt; alpha → Fail to reject H0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3398225" y="2571750"/>
            <a:ext cx="1422900" cy="875400"/>
          </a:xfrm>
          <a:prstGeom prst="rect">
            <a:avLst/>
          </a:prstGeom>
          <a:gradFill>
            <a:gsLst>
              <a:gs pos="0">
                <a:srgbClr val="FFC882"/>
              </a:gs>
              <a:gs pos="100000">
                <a:srgbClr val="F58E09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Residuals are independent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5034050" y="155775"/>
            <a:ext cx="1607400" cy="424200"/>
          </a:xfrm>
          <a:prstGeom prst="rect">
            <a:avLst/>
          </a:prstGeom>
          <a:gradFill>
            <a:gsLst>
              <a:gs pos="0">
                <a:srgbClr val="F4FF83"/>
              </a:gs>
              <a:gs pos="100000">
                <a:srgbClr val="E1F609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ARIMA(1,2,0)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157" name="Google Shape;157;p23"/>
          <p:cNvSpPr/>
          <p:nvPr/>
        </p:nvSpPr>
        <p:spPr>
          <a:xfrm>
            <a:off x="4856100" y="95750"/>
            <a:ext cx="95700" cy="4801500"/>
          </a:xfrm>
          <a:prstGeom prst="rect">
            <a:avLst/>
          </a:prstGeom>
          <a:solidFill>
            <a:srgbClr val="4C113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3"/>
          <p:cNvSpPr txBox="1"/>
          <p:nvPr/>
        </p:nvSpPr>
        <p:spPr>
          <a:xfrm>
            <a:off x="6723700" y="155775"/>
            <a:ext cx="2249400" cy="57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P-value &gt; alpha → Fail to reject H0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9" name="Google Shape;15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0200" y="1539700"/>
            <a:ext cx="3603800" cy="360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3"/>
          <p:cNvSpPr txBox="1"/>
          <p:nvPr/>
        </p:nvSpPr>
        <p:spPr>
          <a:xfrm>
            <a:off x="5235900" y="871475"/>
            <a:ext cx="2821200" cy="4503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Residuals are independent</a:t>
            </a:r>
            <a:endParaRPr sz="16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0E3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title"/>
          </p:nvPr>
        </p:nvSpPr>
        <p:spPr>
          <a:xfrm>
            <a:off x="120200" y="212475"/>
            <a:ext cx="8087400" cy="939900"/>
          </a:xfrm>
          <a:prstGeom prst="rect">
            <a:avLst/>
          </a:prstGeom>
          <a:solidFill>
            <a:srgbClr val="999999"/>
          </a:solidFill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D9D2E9"/>
                </a:highlight>
              </a:rPr>
              <a:t>Two Competing Models -</a:t>
            </a:r>
            <a:r>
              <a:rPr lang="en"/>
              <a:t> </a:t>
            </a:r>
            <a:r>
              <a:rPr lang="en">
                <a:highlight>
                  <a:srgbClr val="FCE5CD"/>
                </a:highlight>
              </a:rPr>
              <a:t>ARIMA(0,2,1) &amp; ARIMA(1,2,0)</a:t>
            </a:r>
            <a:endParaRPr>
              <a:highlight>
                <a:srgbClr val="FCE5CD"/>
              </a:highlight>
            </a:endParaRPr>
          </a:p>
          <a:p>
            <a:pPr marL="18288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B6D7A8"/>
                </a:highlight>
              </a:rPr>
              <a:t>⇒Residual Diagnostics</a:t>
            </a:r>
            <a:endParaRPr>
              <a:highlight>
                <a:srgbClr val="B6D7A8"/>
              </a:highlight>
            </a:endParaRPr>
          </a:p>
          <a:p>
            <a:pPr marL="18288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B6D7A8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lt2"/>
                </a:solidFill>
                <a:highlight>
                  <a:srgbClr val="741B47"/>
                </a:highlight>
              </a:rPr>
              <a:t>AIC/BIC:</a:t>
            </a:r>
            <a:endParaRPr u="sng">
              <a:solidFill>
                <a:schemeClr val="lt2"/>
              </a:solidFill>
              <a:highlight>
                <a:srgbClr val="741B47"/>
              </a:highlight>
            </a:endParaRPr>
          </a:p>
          <a:p>
            <a:pPr marL="18288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B6D7A8"/>
              </a:highlight>
            </a:endParaRPr>
          </a:p>
          <a:p>
            <a:pPr marL="18288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B6D7A8"/>
              </a:highlight>
            </a:endParaRPr>
          </a:p>
          <a:p>
            <a:pPr marL="18288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B6D7A8"/>
              </a:highlight>
            </a:endParaRPr>
          </a:p>
        </p:txBody>
      </p:sp>
      <p:graphicFrame>
        <p:nvGraphicFramePr>
          <p:cNvPr id="166" name="Google Shape;166;p24"/>
          <p:cNvGraphicFramePr/>
          <p:nvPr/>
        </p:nvGraphicFramePr>
        <p:xfrm>
          <a:off x="884100" y="2246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{CAEB5B27-A8BF-4A50-994B-4872845D6DAE}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AIC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BIC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i="1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ARIMA(1,2,0)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i="1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918.5358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i="1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922.3194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i="1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ARIMA(0,2,1)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i="1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917.2989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i="1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921.0825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7" name="Google Shape;167;p24"/>
          <p:cNvSpPr txBox="1"/>
          <p:nvPr/>
        </p:nvSpPr>
        <p:spPr>
          <a:xfrm>
            <a:off x="711325" y="3666100"/>
            <a:ext cx="4391100" cy="506100"/>
          </a:xfrm>
          <a:prstGeom prst="rect">
            <a:avLst/>
          </a:prstGeom>
          <a:solidFill>
            <a:srgbClr val="7F600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ARIMA(0,2,1) Shows lower AIC/BIC</a:t>
            </a:r>
            <a:endParaRPr sz="1800" b="1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68" name="Google Shape;168;p24"/>
          <p:cNvSpPr txBox="1"/>
          <p:nvPr/>
        </p:nvSpPr>
        <p:spPr>
          <a:xfrm>
            <a:off x="1905950" y="4433625"/>
            <a:ext cx="4515900" cy="5061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u="sng">
                <a:solidFill>
                  <a:schemeClr val="dk1"/>
                </a:solidFill>
                <a:highlight>
                  <a:srgbClr val="FFFF00"/>
                </a:highlight>
              </a:rPr>
              <a:t>OUR FINAL MODEL</a:t>
            </a:r>
            <a:r>
              <a:rPr lang="en" sz="2000" b="1">
                <a:solidFill>
                  <a:schemeClr val="dk1"/>
                </a:solidFill>
              </a:rPr>
              <a:t> ⇒ ARIMA(0,2,1)</a:t>
            </a:r>
            <a:endParaRPr sz="20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Forecasting From Various Y</a:t>
            </a:r>
            <a:r>
              <a:rPr lang="en" sz="1688">
                <a:solidFill>
                  <a:schemeClr val="lt1"/>
                </a:solidFill>
              </a:rPr>
              <a:t>t</a:t>
            </a:r>
            <a:endParaRPr sz="1688">
              <a:solidFill>
                <a:schemeClr val="lt1"/>
              </a:solidFill>
            </a:endParaRPr>
          </a:p>
        </p:txBody>
      </p:sp>
      <p:sp>
        <p:nvSpPr>
          <p:cNvPr id="174" name="Google Shape;174;p25"/>
          <p:cNvSpPr txBox="1">
            <a:spLocks noGrp="1"/>
          </p:cNvSpPr>
          <p:nvPr>
            <p:ph type="body" idx="1"/>
          </p:nvPr>
        </p:nvSpPr>
        <p:spPr>
          <a:xfrm>
            <a:off x="311700" y="1058875"/>
            <a:ext cx="3999900" cy="15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>
                <a:solidFill>
                  <a:schemeClr val="lt1"/>
                </a:solidFill>
              </a:rPr>
              <a:t>Wide CI due to selecting MA process</a:t>
            </a:r>
            <a:endParaRPr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>
                <a:solidFill>
                  <a:schemeClr val="lt1"/>
                </a:solidFill>
              </a:rPr>
              <a:t>Based on our forecast, there may have been a housing crash in this area </a:t>
            </a:r>
            <a:endParaRPr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>
                <a:solidFill>
                  <a:schemeClr val="lt1"/>
                </a:solidFill>
              </a:rPr>
              <a:t>For consideration: </a:t>
            </a:r>
            <a:endParaRPr>
              <a:solidFill>
                <a:schemeClr val="lt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-"/>
            </a:pPr>
            <a:r>
              <a:rPr lang="en">
                <a:solidFill>
                  <a:schemeClr val="lt1"/>
                </a:solidFill>
              </a:rPr>
              <a:t>Only one significant lag </a:t>
            </a:r>
            <a:endParaRPr>
              <a:solidFill>
                <a:schemeClr val="lt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-"/>
            </a:pPr>
            <a:r>
              <a:rPr lang="en">
                <a:solidFill>
                  <a:schemeClr val="lt1"/>
                </a:solidFill>
              </a:rPr>
              <a:t>External factors not included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75" name="Google Shape;17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4601" y="98081"/>
            <a:ext cx="3524125" cy="248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25"/>
          <p:cNvCxnSpPr/>
          <p:nvPr/>
        </p:nvCxnSpPr>
        <p:spPr>
          <a:xfrm>
            <a:off x="7033226" y="445056"/>
            <a:ext cx="547800" cy="184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7" name="Google Shape;177;p25"/>
          <p:cNvSpPr txBox="1"/>
          <p:nvPr/>
        </p:nvSpPr>
        <p:spPr>
          <a:xfrm>
            <a:off x="5654801" y="154856"/>
            <a:ext cx="1665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Likely external factor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78" name="Google Shape;17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588" y="2563098"/>
            <a:ext cx="3524125" cy="2482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4594" y="2563098"/>
            <a:ext cx="3524125" cy="2482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54599" y="2563109"/>
            <a:ext cx="3524125" cy="2482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CB9C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25" y="1255776"/>
            <a:ext cx="4307549" cy="2739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9500" y="2823595"/>
            <a:ext cx="3414990" cy="200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9500" y="382064"/>
            <a:ext cx="3414993" cy="170262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6"/>
          <p:cNvSpPr txBox="1"/>
          <p:nvPr/>
        </p:nvSpPr>
        <p:spPr>
          <a:xfrm>
            <a:off x="148125" y="894587"/>
            <a:ext cx="17805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750" tIns="86750" rIns="86750" bIns="867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7">
                <a:solidFill>
                  <a:schemeClr val="dk2"/>
                </a:solidFill>
              </a:rPr>
              <a:t>Q4 2019 Report</a:t>
            </a:r>
            <a:endParaRPr sz="1207">
              <a:solidFill>
                <a:schemeClr val="dk2"/>
              </a:solidFill>
            </a:endParaRPr>
          </a:p>
        </p:txBody>
      </p:sp>
      <p:sp>
        <p:nvSpPr>
          <p:cNvPr id="189" name="Google Shape;189;p26"/>
          <p:cNvSpPr txBox="1"/>
          <p:nvPr/>
        </p:nvSpPr>
        <p:spPr>
          <a:xfrm>
            <a:off x="5279500" y="98713"/>
            <a:ext cx="36510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750" tIns="86750" rIns="86750" bIns="867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7">
                <a:solidFill>
                  <a:schemeClr val="dk2"/>
                </a:solidFill>
              </a:rPr>
              <a:t>Q2 2018 Report</a:t>
            </a:r>
            <a:endParaRPr sz="1207">
              <a:solidFill>
                <a:schemeClr val="dk2"/>
              </a:solidFill>
            </a:endParaRPr>
          </a:p>
        </p:txBody>
      </p:sp>
      <p:sp>
        <p:nvSpPr>
          <p:cNvPr id="190" name="Google Shape;190;p26"/>
          <p:cNvSpPr txBox="1"/>
          <p:nvPr/>
        </p:nvSpPr>
        <p:spPr>
          <a:xfrm>
            <a:off x="5279500" y="4791398"/>
            <a:ext cx="36510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750" tIns="86750" rIns="86750" bIns="867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7">
                <a:solidFill>
                  <a:schemeClr val="dk2"/>
                </a:solidFill>
              </a:rPr>
              <a:t>Q3 2018 Report</a:t>
            </a:r>
            <a:endParaRPr sz="1207">
              <a:solidFill>
                <a:schemeClr val="dk2"/>
              </a:solidFill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0" y="0"/>
            <a:ext cx="46038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750" tIns="86750" rIns="86750" bIns="867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7">
                <a:solidFill>
                  <a:schemeClr val="dk2"/>
                </a:solidFill>
              </a:rPr>
              <a:t>U.S. Department of Housing and Urban Development Reports</a:t>
            </a:r>
            <a:endParaRPr sz="1707">
              <a:solidFill>
                <a:schemeClr val="dk2"/>
              </a:solidFill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5982400" y="2084688"/>
            <a:ext cx="2245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Corresponds with Y</a:t>
            </a:r>
            <a:r>
              <a:rPr lang="en" sz="800">
                <a:solidFill>
                  <a:schemeClr val="dk2"/>
                </a:solidFill>
              </a:rPr>
              <a:t>46</a:t>
            </a:r>
            <a:r>
              <a:rPr lang="en" sz="1800">
                <a:solidFill>
                  <a:schemeClr val="dk2"/>
                </a:solidFill>
              </a:rPr>
              <a:t> and Y</a:t>
            </a:r>
            <a:r>
              <a:rPr lang="en" sz="800">
                <a:solidFill>
                  <a:schemeClr val="dk2"/>
                </a:solidFill>
              </a:rPr>
              <a:t>47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193" name="Google Shape;193;p26"/>
          <p:cNvCxnSpPr>
            <a:stCxn id="192" idx="3"/>
            <a:endCxn id="187" idx="3"/>
          </p:cNvCxnSpPr>
          <p:nvPr/>
        </p:nvCxnSpPr>
        <p:spPr>
          <a:xfrm rot="10800000" flipH="1">
            <a:off x="8227600" y="1233438"/>
            <a:ext cx="466800" cy="1220700"/>
          </a:xfrm>
          <a:prstGeom prst="curvedConnector3">
            <a:avLst>
              <a:gd name="adj1" fmla="val 151032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94" name="Google Shape;194;p26"/>
          <p:cNvCxnSpPr>
            <a:stCxn id="186" idx="3"/>
            <a:endCxn id="192" idx="3"/>
          </p:cNvCxnSpPr>
          <p:nvPr/>
        </p:nvCxnSpPr>
        <p:spPr>
          <a:xfrm rot="10800000">
            <a:off x="8227691" y="2454107"/>
            <a:ext cx="466800" cy="1374000"/>
          </a:xfrm>
          <a:prstGeom prst="curvedConnector3">
            <a:avLst>
              <a:gd name="adj1" fmla="val -51012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stealth" w="med" len="med"/>
            <a:tailEnd type="none" w="med" len="med"/>
          </a:ln>
        </p:spPr>
      </p:cxnSp>
      <p:sp>
        <p:nvSpPr>
          <p:cNvPr id="195" name="Google Shape;195;p26"/>
          <p:cNvSpPr txBox="1"/>
          <p:nvPr/>
        </p:nvSpPr>
        <p:spPr>
          <a:xfrm>
            <a:off x="239800" y="4195475"/>
            <a:ext cx="3866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Source: https://www.huduser.gov/portal/ushmc/quarterly_commentary.html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7E6B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and Closing Remarks</a:t>
            </a:r>
            <a:endParaRPr/>
          </a:p>
        </p:txBody>
      </p:sp>
      <p:sp>
        <p:nvSpPr>
          <p:cNvPr id="201" name="Google Shape;201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Data: price of 4 bedroom homes at each fiscal quarter, 2007 to 2019; Stochastic, near enough to stationary after differencing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Two models were the best contenders: ARI(1,2) and IMA(2,1)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After a variety of tests to analyze their benefits, IMA(2,1) was selected as the best fit for this series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 forecast was created for 10 timesteps into the future and its limitations were discussed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Decline from Y</a:t>
            </a:r>
            <a:r>
              <a:rPr lang="en" sz="800">
                <a:solidFill>
                  <a:schemeClr val="dk1"/>
                </a:solidFill>
              </a:rPr>
              <a:t>47</a:t>
            </a:r>
            <a:r>
              <a:rPr lang="en">
                <a:solidFill>
                  <a:schemeClr val="dk1"/>
                </a:solidFill>
              </a:rPr>
              <a:t> to the end of the time series discussed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802</Words>
  <Application>Microsoft Office PowerPoint</Application>
  <PresentationFormat>On-screen Show (16:9)</PresentationFormat>
  <Paragraphs>141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Lobster</vt:lpstr>
      <vt:lpstr>Courier New</vt:lpstr>
      <vt:lpstr>Caveat</vt:lpstr>
      <vt:lpstr>Arial</vt:lpstr>
      <vt:lpstr>Century Schoolbook</vt:lpstr>
      <vt:lpstr>Simple Light</vt:lpstr>
      <vt:lpstr>PowerPoint Presentation</vt:lpstr>
      <vt:lpstr>Data Introduction</vt:lpstr>
      <vt:lpstr>Data Details</vt:lpstr>
      <vt:lpstr>Data Details - Graphs</vt:lpstr>
      <vt:lpstr>Our Time Series Plot for a 4 Bedroom House and the ACF</vt:lpstr>
      <vt:lpstr>After 1st Differencing - ARIMA(p, 1, q)</vt:lpstr>
      <vt:lpstr>After 2nd Differencing - Finally Stationary</vt:lpstr>
      <vt:lpstr>ACF/PACF/EACF</vt:lpstr>
      <vt:lpstr>PowerPoint Presentation</vt:lpstr>
      <vt:lpstr>PowerPoint Presentation</vt:lpstr>
      <vt:lpstr>Residuals → Ljung-Box Test</vt:lpstr>
      <vt:lpstr>Two Competing Models - ARIMA(0,2,1) &amp; ARIMA(1,2,0) ⇒Residual Diagnostics  AIC/BIC:   </vt:lpstr>
      <vt:lpstr>Forecasting From Various Yt</vt:lpstr>
      <vt:lpstr>PowerPoint Presentation</vt:lpstr>
      <vt:lpstr>Summary and Closing Remarks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Cameron Carter</cp:lastModifiedBy>
  <cp:revision>1</cp:revision>
  <dcterms:modified xsi:type="dcterms:W3CDTF">2025-12-08T15:32:21Z</dcterms:modified>
</cp:coreProperties>
</file>